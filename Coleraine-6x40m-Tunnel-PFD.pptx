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 C adds preprocessing: SH-01 primary shredder, M1, TR-01 80 mm trommel. Unders (65%, assumed) go via M2 to the detection bays; overs (35%) go via M3 to the SH-03 secondary shredder (about 16.3 t/h) and M4, then to the bays. Blazequel on both shredder outfeeds. M5 sits on the SP-01 output line. Tunnel figures keep WTT's 75,000 t basis; ferrous removal makes them about 1.2%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for the 7 + 7 process with a turn. In single-pass 14-day mode, loads are Tue/Thu/Fri and unloads Mon/Wed/Thu (see the dashboard and the rotation page). Bucket counts at 9 m³ and an assumed 2-minute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Streams 3a, 4a, 4b and 16 are new in rev C. Tunnel streams keep WTT's 75,000 t basis even though ~870 t of ferrous is removed before the tunnels (about 1.2% conservative). m³ at 350 kg/m³.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LAYOUT · 6 × 40 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t/yr MSW · SH-01 → 80 mm trommel → SH-03 on overs · magnets · 6 × 40 m tunnels · output by truck to FCG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LAYOUT · INTERIM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8934871" cy="5303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20671" y="1097280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20671" y="155448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REDUCTION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620671" y="177393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→ 52,485 t/yr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620671" y="2176272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mm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20671" y="263347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TROMMEL TR-01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20671" y="285292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unders · 35% to SH-03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20671" y="3255264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343 m³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20671" y="371246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20671" y="393192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 hold · peak 481 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20671" y="4334256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/wk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20671" y="479145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TO FCG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20671" y="501091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 per unload · ~16 min each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620671" y="5413248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 m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620671" y="587044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EVERY TUNNEL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620671" y="608990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481 t per load · 40 m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26029-PFD-003 rev D · Coleraine / Riverridge · WTT 26029 rev 1 basis · sheet 1 of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RHYTHM · MON–SAT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in the morning, shredding and screening in the afternoon, so the two never share a bay.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LAYOUT · INTERIM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377440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46911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16383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6343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5854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5326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5286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24797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4269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74229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63740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3211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3171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02683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2154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2114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41626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1097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91057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080569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0040" y="1371600"/>
            <a:ext cx="0" cy="2926080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Mon/Wed/Fri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36924" y="1463040"/>
            <a:ext cx="2718054" cy="320040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② turn T1→T4 · 122 b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Mon/Wed/Fri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046911" y="1874520"/>
            <a:ext cx="2390013" cy="320040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① empty T4 → trucks → FCG · 107 b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94269" y="1874520"/>
            <a:ext cx="3434388" cy="320040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Tue/Thu/Sat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046911" y="2286000"/>
            <a:ext cx="3414304" cy="320040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③ fill T1 from bay pairs A + B · 153 b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Tue/Thu/Sat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94269" y="2697480"/>
            <a:ext cx="3434388" cy="320040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→ TR-01 → SH-03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94269" y="3108960"/>
            <a:ext cx="3434388" cy="320040"/>
          </a:xfrm>
          <a:prstGeom prst="rect">
            <a:avLst/>
          </a:prstGeom>
          <a:solidFill>
            <a:srgbClr val="FFD166">
              <a:alpha val="22000"/>
            </a:srgbClr>
          </a:solidFill>
          <a:ln w="15875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shred · screen 80 mm · overs re-shred → bays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SH-02 bulky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046911" y="3520440"/>
            <a:ext cx="3213463" cy="320040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bulky 4.8 h/day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2377440" y="3931920"/>
            <a:ext cx="9372600" cy="320040"/>
          </a:xfrm>
          <a:prstGeom prst="rect">
            <a:avLst/>
          </a:prstGeom>
          <a:solidFill>
            <a:srgbClr val="0D3B73"/>
          </a:solidFill>
          <a:ln w="12700">
            <a:solidFill>
              <a:srgbClr val="9EC3F0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IR cameras + auto deluge, 24/7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617720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 h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2057400" y="4727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shred 17:08 → next fill 07:00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5166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 h hold on every load (max 66 h over the weekend)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70248" y="4617720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53128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 t/h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916168" y="4727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SH-03 on trommel overs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453128" y="5166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26,047 t/yr in the same 1,600 h as SH-01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29016" y="4617720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11896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~2,790 h</a:t>
            </a:r>
            <a:endParaRPr lang="en-US" sz="2000" dirty="0"/>
          </a:p>
        </p:txBody>
      </p:sp>
      <p:sp>
        <p:nvSpPr>
          <p:cNvPr id="53" name="Text 51"/>
          <p:cNvSpPr txBox="1"/>
          <p:nvPr/>
        </p:nvSpPr>
        <p:spPr>
          <a:xfrm>
            <a:off x="9774936" y="4727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loader-hours a year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311896" y="5166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loaders, both under 1,600 h (no hopper feed)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26029-PFD-003 rev D · Coleraine / Riverridge · WTT 26029 rev 1 basis · sheet 2 of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TABLE &amp; OPEN ITEMS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averages, WTT 26029 rev 1 basis. MSW check: output 52,485 + off-gas 15,090 + 7,425 = 75,000 t/yr.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LAYOUT · INTERIM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709160"/>
                <a:gridCol w="109728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delivered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to SH-01 primary (no picking)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SH-01 → M1 → TR-01 trommel 80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74,419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 &lt;80 mm (65%) → M2 → bays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48,295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 &gt;80 mm (35%) → M3 → SH-03 → M4 → bays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25,836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detection bays (WTT basis kept)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Off-gas, first 7 days (water + degradation)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15,090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 → second 7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59,910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Off-gas, second 7 days (incl. heat evap.)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7,425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Tunnel output → trucks → FCG (40 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Ferrous recovered M1–M4 (1.29% Fe)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Bulky → SH-02 → off-site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1887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5087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identical 40 m tunnels, 481 t at 4.46 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→ 80 mm trommel; overs via SH-03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Magnets M1–M4 (M5 TBC); Blazequel on both shredders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IR-watched bays, 12 h 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straight onto trucks to FCG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7033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CONFIRM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0233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Trommel unders split (65% assumed)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 efficiencies (assumed)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booking + set-down area for FCG loads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WTT: 40 m stage 2 heat / single pass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NIEA / NIFRS pile limit and fire water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26029-PFD-003 rev D · Coleraine / Riverridge · WTT 26029 rev 1 basis · sheet 3 of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Coleraine 6 × 40 m PFD</dc:title>
  <dc:subject>PptxGenJS Presentation</dc:subject>
  <dc:creator>Prepared by Claude for review</dc:creator>
  <cp:lastModifiedBy>Prepared by Claude for review</cp:lastModifiedBy>
  <cp:revision>1</cp:revision>
  <dcterms:created xsi:type="dcterms:W3CDTF">2026-10-25T12:10:38Z</dcterms:created>
  <dcterms:modified xsi:type="dcterms:W3CDTF">2026-10-25T12:10:38Z</dcterms:modified>
</cp:coreProperties>
</file>