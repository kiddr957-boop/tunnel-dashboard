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 C adds preprocessing: SH-01 primary shredder, M1, TR-01 80 mm trommel. Unders (65%, assumed) go via M2 to the detection bays; overs (35%) go via M3 to the SH-03 secondary shredder (about 16.3 t/h) and M4, then to the bays. Blazequel on both shredder outfeeds. M5 sits on the SP-01 output line. Tunnel figures keep WTT's 75,000 t basis; ferrous removal makes them about 1.2% conservative.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for the 7 + 7 process with a turn. In single-pass 14-day mode, loads are Tue/Thu/Fri and unloads Mon/Wed/Thu (see the dashboard and the rotation page). Bucket counts at 9 m³ and an assumed 2-minute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Streams 3a, 4a, 4b and 16 are new in rev C. Tunnel streams keep WTT's 75,000 t basis even though ~870 t of ferrous is removed before the tunnels (about 1.2% conservative). m³ at 350 kg/m³.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LAYOUT · 6 × 40 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t/yr MSW · SH-01 → 80 mm trommel → SH-03 on overs · 5 magnets · 6 identical tunnels 40 × 8 × 6 m · Mon–Sat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310896"/>
            <a:ext cx="2377440" cy="292608"/>
          </a:xfrm>
          <a:prstGeom prst="rect">
            <a:avLst/>
          </a:prstGeom>
          <a:noFill/>
          <a:ln w="12700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 LAYOUT · INTERIM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97280"/>
            <a:ext cx="8934871" cy="5303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20671" y="1097280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30.0%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620671" y="1554480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REDUCTION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20671" y="1773936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→ 52,485 t/yr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620671" y="2176272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mm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620671" y="2633472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TROMMEL TR-01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9620671" y="2852928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unders · 35% to SH-03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9620671" y="3255264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343 m³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620671" y="3712464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BAYS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9620671" y="3931920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h hold · peak 481 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20671" y="4334256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~950 t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620671" y="4791456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FERROUS RECOVERED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9620671" y="5010912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magnets · 1.29% Fe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620671" y="5413248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4.46 m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620671" y="5870448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 EVERY TUNNEL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620671" y="6089904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481 t per load · 40 m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26029-PFD-003 rev C · Coleraine / Riverridge · WTT 26029 rev 1 basis · sheet 1 of 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3B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RHYTHM · MON–SAT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in the morning, shredding and screening in the afternoon, so the two never share a bay.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310896"/>
            <a:ext cx="2377440" cy="292608"/>
          </a:xfrm>
          <a:prstGeom prst="rect">
            <a:avLst/>
          </a:prstGeom>
          <a:noFill/>
          <a:ln w="12700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 LAYOUT · INTERIM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377440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57400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06:00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046911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16383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6343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85854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55326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5286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724797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94269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74229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12:00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063740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33211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13171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402683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72154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52114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741626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11097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91057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1080569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750040" y="1371600"/>
            <a:ext cx="0" cy="3337560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430000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14630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· Mon/Wed/Fri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36924" y="1463040"/>
            <a:ext cx="2718054" cy="320040"/>
          </a:xfrm>
          <a:prstGeom prst="rect">
            <a:avLst/>
          </a:prstGeom>
          <a:solidFill>
            <a:srgbClr val="E8F1FF">
              <a:alpha val="22000"/>
            </a:srgbClr>
          </a:solidFill>
          <a:ln w="15875"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② turn T1→T4 · 122 b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154978" y="1463040"/>
            <a:ext cx="2343150" cy="320040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DH-01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11480" y="1874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· Mon/Wed/Fri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046911" y="1874520"/>
            <a:ext cx="2390013" cy="320040"/>
          </a:xfrm>
          <a:prstGeom prst="rect">
            <a:avLst/>
          </a:prstGeom>
          <a:solidFill>
            <a:srgbClr val="E8F1FF">
              <a:alpha val="22000"/>
            </a:srgbClr>
          </a:solidFill>
          <a:ln w="15875"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① empty T4 → OS-01 · 107 b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394269" y="1874520"/>
            <a:ext cx="3434388" cy="320040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SH-01 (+ DH-01 to 14:38)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11480" y="2286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· Tue/Thu/Sat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046911" y="2286000"/>
            <a:ext cx="3414304" cy="320040"/>
          </a:xfrm>
          <a:prstGeom prst="rect">
            <a:avLst/>
          </a:prstGeom>
          <a:solidFill>
            <a:srgbClr val="E8F1FF">
              <a:alpha val="22000"/>
            </a:srgbClr>
          </a:solidFill>
          <a:ln w="15875"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③ fill T1 from bay pairs A + B · 153 b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063740" y="2286000"/>
            <a:ext cx="3434388" cy="320040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DH-01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11480" y="2697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· Tue/Thu/Sat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394269" y="2697480"/>
            <a:ext cx="3434388" cy="320040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SH-01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11480" y="3108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SH-01 → TR-01 → SH-03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394269" y="3108960"/>
            <a:ext cx="3434388" cy="320040"/>
          </a:xfrm>
          <a:prstGeom prst="rect">
            <a:avLst/>
          </a:prstGeom>
          <a:solidFill>
            <a:srgbClr val="FFD166">
              <a:alpha val="22000"/>
            </a:srgbClr>
          </a:solidFill>
          <a:ln w="15875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shred · screen 80 mm · overs re-shred → bays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DH-01 → SP-01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063740" y="3520440"/>
            <a:ext cx="3434388" cy="320040"/>
          </a:xfrm>
          <a:prstGeom prst="rect">
            <a:avLst/>
          </a:prstGeom>
          <a:solidFill>
            <a:srgbClr val="FFD166">
              <a:alpha val="22000"/>
            </a:srgbClr>
          </a:solidFill>
          <a:ln w="15875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secondary processing 33 t/h · M5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3931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SH-02 bulky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3046911" y="3931920"/>
            <a:ext cx="3213463" cy="320040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bulky 4.8 h/day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11480" y="4343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bays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2377440" y="4343400"/>
            <a:ext cx="9372600" cy="320040"/>
          </a:xfrm>
          <a:prstGeom prst="rect">
            <a:avLst/>
          </a:prstGeom>
          <a:solidFill>
            <a:srgbClr val="0D3B73"/>
          </a:solidFill>
          <a:ln w="12700">
            <a:solidFill>
              <a:srgbClr val="9EC3F0"/>
            </a:solidFill>
            <a:prstDash val="dash"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IR cameras + auto deluge, 24/7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480" y="5029200"/>
            <a:ext cx="3611880" cy="960120"/>
          </a:xfrm>
          <a:prstGeom prst="rect">
            <a:avLst/>
          </a:prstGeom>
          <a:solidFill>
            <a:srgbClr val="0A2F5D"/>
          </a:solidFill>
          <a:ln w="12700">
            <a:solidFill>
              <a:srgbClr val="2A579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94360" y="51206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13.9 h</a:t>
            </a:r>
            <a:endParaRPr lang="en-US" sz="2000" dirty="0"/>
          </a:p>
        </p:txBody>
      </p:sp>
      <p:sp>
        <p:nvSpPr>
          <p:cNvPr id="49" name="Text 47"/>
          <p:cNvSpPr txBox="1"/>
          <p:nvPr/>
        </p:nvSpPr>
        <p:spPr>
          <a:xfrm>
            <a:off x="2057400" y="51389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shred 17:08 → next fill 07:00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594360" y="55778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12 h hold on every load (max 66 h over the weekend)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270248" y="5029200"/>
            <a:ext cx="3611880" cy="960120"/>
          </a:xfrm>
          <a:prstGeom prst="rect">
            <a:avLst/>
          </a:prstGeom>
          <a:solidFill>
            <a:srgbClr val="0A2F5D"/>
          </a:solidFill>
          <a:ln w="12700">
            <a:solidFill>
              <a:srgbClr val="2A579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53128" y="51206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16.3 t/h</a:t>
            </a:r>
            <a:endParaRPr lang="en-US" sz="2000" dirty="0"/>
          </a:p>
        </p:txBody>
      </p:sp>
      <p:sp>
        <p:nvSpPr>
          <p:cNvPr id="53" name="Text 51"/>
          <p:cNvSpPr txBox="1"/>
          <p:nvPr/>
        </p:nvSpPr>
        <p:spPr>
          <a:xfrm>
            <a:off x="5916168" y="51389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SH-03 on trommel overs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4453128" y="55778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26,047 t/yr in the same 1,600 h as SH-01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129016" y="5029200"/>
            <a:ext cx="3611880" cy="960120"/>
          </a:xfrm>
          <a:prstGeom prst="rect">
            <a:avLst/>
          </a:prstGeom>
          <a:solidFill>
            <a:srgbClr val="0A2F5D"/>
          </a:solidFill>
          <a:ln w="12700">
            <a:solidFill>
              <a:srgbClr val="2A579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311896" y="51206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~3,340 h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774936" y="51389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loader-hours a year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8311896" y="55778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loaders at ~1,670 h each (conveyors link SH-01, TR-01, SH-03)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41148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26029-PFD-003 rev C · Coleraine / Riverridge · WTT 26029 rev 1 basis · sheet 2 of 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3B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TABLE &amp; OPEN ITEMS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averages, WTT 26029 rev 1 basis. MSW check: output 52,485 + off-gas 15,090 + 7,425 = 75,000 t/yr.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310896"/>
            <a:ext cx="2377440" cy="292608"/>
          </a:xfrm>
          <a:prstGeom prst="rect">
            <a:avLst/>
          </a:prstGeom>
          <a:noFill/>
          <a:ln w="12700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 LAYOUT · INTERIM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2237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709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MSW delivered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MSW to SH-01 primary (no picking)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 → M1 → TR-01 trommel 80 mm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74,419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Unders &lt;80 mm (65%) → M2 → bays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48,295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Overs &gt;80 mm (35%) → M3 → SH-03 → M4 → bays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25,836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detection bays (WTT basis kept)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Off-gas, first 7 days (water + degradation)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15,090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Turn → second 7 days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59,910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75.4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Off-gas, second 7 days (incl. heat evap.)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7,425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Tunnel output → OS-01 storage bays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52,485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84.6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DH-01 → SP-01 at 33 t/h · M5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52,485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84.6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Ferrous recovered M1–M5 (1.29% Fe)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948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Bulky → SH-02 → off-site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001000" y="118872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CHOICES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1508760"/>
            <a:ext cx="3776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identical 40 m tunnels, 481 t at 4.46 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SH-01 → 80 mm trommel; overs via SH-03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magnets M1–M5; Blazequel on both shredders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IR-watched bays, 12 h 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SP-01 33 t/h in 1,600 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370332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TO CONFIRM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4023360"/>
            <a:ext cx="3776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Trommel unders split (65% assumed)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Magnet efficiencies (assumed)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SH-03 model and rate on overs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WTT: 40 m stage 2 heat / single pass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NIEA / NIFRS pile limit and fire water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1148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26029-PFD-003 rev C · Coleraine / Riverridge · WTT 26029 rev 1 basis · sheet 3 of 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Coleraine 6 × 40 m PFD</dc:title>
  <dc:subject>PptxGenJS Presentation</dc:subject>
  <dc:creator>Prepared by Claude for review</dc:creator>
  <cp:lastModifiedBy>Prepared by Claude for review</cp:lastModifiedBy>
  <cp:revision>1</cp:revision>
  <dcterms:created xsi:type="dcterms:W3CDTF">2026-10-25T12:01:36Z</dcterms:created>
  <dcterms:modified xsi:type="dcterms:W3CDTF">2026-10-25T12:01:36Z</dcterms:modified>
</cp:coreProperties>
</file>