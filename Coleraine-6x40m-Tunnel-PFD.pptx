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identical 40 m tunnels: stage 1 is unchanged from WTT (481 t at 4.46 m); stage 2 holds 384 t at 3.56 m, so any tunnel can take a stage 1 batch if one is out of service. WTT should confirm stage 2 heat and aeration for the lower pile. MSW goes from reception straight to SH-01 (no picking station), with Blazequel fire detection on the outfeed belt. Shredded MSW waits at least 12 h in four IR-watched detection bays (two pairs, one per shredding day) before filling a stage 1 tunnel. Stage 1 turns into an emptied stage 2 tunnel on Mon/Wed/Fri. Stage 2 empties into the OS-01 storage bays, then the DH-01 dosing hopper meters SP-01 at 33 t/h. Bulky waste has its own shredder, SH-02, and does not go to the tunnels.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Bucket counts use a 9 m³ bucket and an assumed 2-minute cycle. L2 feeds SH-01 in short spells, about 2.6 h of work a day. L1 feeds the dosing hopper in the afternoons; L2 covers the hopper on Mon/Wed/Fri until L1 finishes turning at 14:38. SH-02 is assumed to have its own grab or feeder. The 12 h hold works because shredding ends at 17:08 and the next fill starts at 07:00.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Streams are identical to the 40 + 33 m layout; only the stage 2 tunnel length changes. m³ at 350 kg/m³ throughout; the output density is not in the WTT sheet, so 0.35 t/m³ is assumed and may be low for dry compost. Build 2 doubles every MSW stream and uses T1–T6 stage 1 and T7–T12 stage 2; it needs a second 33 t/h line and about 4 loaders.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3B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SELECTED LAYOUT · 6 × 40 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75,000 t/yr MSW · 6 identical tunnels 40 × 8 × 6 m (T1–T3 stage 1, T4–T6 stage 2) · Mon–Sat · 350 kg/m³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310896"/>
            <a:ext cx="2377440" cy="292608"/>
          </a:xfrm>
          <a:prstGeom prst="rect">
            <a:avLst/>
          </a:prstGeom>
          <a:noFill/>
          <a:ln w="12700">
            <a:solidFill>
              <a:srgbClr val="FFD16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 LAYOUT · INTERIM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97280"/>
            <a:ext cx="8934871" cy="53035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20671" y="1097280"/>
            <a:ext cx="215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30.0%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9620671" y="1554480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REDUCTION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9620671" y="1773936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75,000 → 52,485 t/yr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620671" y="2176272"/>
            <a:ext cx="215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3.56 m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9620671" y="2633472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 FILL (40 M)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9620671" y="2852928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384 t · 101 t spare per fill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9620671" y="3255264"/>
            <a:ext cx="215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343 m³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9620671" y="3712464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BAYS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9620671" y="3931920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h hold · peak 481 t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9620671" y="4334256"/>
            <a:ext cx="215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× 9 m³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9620671" y="4791456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LOADERS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9620671" y="5010912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~3,340 h/yr in total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9620671" y="5413248"/>
            <a:ext cx="21568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1,920 m²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9620671" y="5870448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TUNNEL FLOOR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9620671" y="6089904"/>
            <a:ext cx="2156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+168 m² vs 40 + 33 m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1148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26029-PFD-003 rev B · Coleraine / Riverridge · WTT 26029 rev 1 basis · sheet 1 of 3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3B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RHYTHM · 6 × 40 m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as the 40 + 33 m layout: tonnes and volumes are unchanged. Loading in the morning, shredding in the afternoon.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310896"/>
            <a:ext cx="2377440" cy="292608"/>
          </a:xfrm>
          <a:prstGeom prst="rect">
            <a:avLst/>
          </a:prstGeom>
          <a:noFill/>
          <a:ln w="12700">
            <a:solidFill>
              <a:srgbClr val="FFD16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 LAYOUT · INTERIM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2377440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57400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06:00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046911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16383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96343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08:00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385854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55326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35286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10:00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724797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394269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74229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12:00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063740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33211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13171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14:00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402683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72154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52114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16:00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9741626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411097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91057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1080569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750040" y="1371600"/>
            <a:ext cx="0" cy="3557016"/>
          </a:xfrm>
          <a:prstGeom prst="line">
            <a:avLst/>
          </a:prstGeom>
          <a:noFill/>
          <a:ln w="9525">
            <a:solidFill>
              <a:srgbClr val="2A579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1430000" y="109728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20:00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147218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· Mon/Wed/Fri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36924" y="1472184"/>
            <a:ext cx="2718054" cy="329184"/>
          </a:xfrm>
          <a:prstGeom prst="rect">
            <a:avLst/>
          </a:prstGeom>
          <a:solidFill>
            <a:srgbClr val="E8F1FF">
              <a:alpha val="22000"/>
            </a:srgbClr>
          </a:solidFill>
          <a:ln w="15875">
            <a:solidFill>
              <a:srgbClr val="E8F1F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② turn T1→T4 · 122 buckets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8154978" y="1472184"/>
            <a:ext cx="2343150" cy="329184"/>
          </a:xfrm>
          <a:prstGeom prst="rect">
            <a:avLst/>
          </a:prstGeom>
          <a:solidFill>
            <a:srgbClr val="9EC3F0">
              <a:alpha val="15000"/>
            </a:srgbClr>
          </a:solidFill>
          <a:ln w="12700">
            <a:solidFill>
              <a:srgbClr val="9EC3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feed DH-01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11480" y="191109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· Mon/Wed/Fri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3046911" y="1911096"/>
            <a:ext cx="2390013" cy="329184"/>
          </a:xfrm>
          <a:prstGeom prst="rect">
            <a:avLst/>
          </a:prstGeom>
          <a:solidFill>
            <a:srgbClr val="E8F1FF">
              <a:alpha val="22000"/>
            </a:srgbClr>
          </a:solidFill>
          <a:ln w="15875">
            <a:solidFill>
              <a:srgbClr val="E8F1F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① empty T4 → OS-01 · 107 b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394269" y="1911096"/>
            <a:ext cx="3434388" cy="329184"/>
          </a:xfrm>
          <a:prstGeom prst="rect">
            <a:avLst/>
          </a:prstGeom>
          <a:solidFill>
            <a:srgbClr val="9EC3F0">
              <a:alpha val="15000"/>
            </a:srgbClr>
          </a:solidFill>
          <a:ln w="12700">
            <a:solidFill>
              <a:srgbClr val="9EC3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feed SH-01 (+ DH-01 to 14:38)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11480" y="235000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L1 · Tue/Thu/Sat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3046911" y="2350008"/>
            <a:ext cx="3414304" cy="329184"/>
          </a:xfrm>
          <a:prstGeom prst="rect">
            <a:avLst/>
          </a:prstGeom>
          <a:solidFill>
            <a:srgbClr val="E8F1FF">
              <a:alpha val="22000"/>
            </a:srgbClr>
          </a:solidFill>
          <a:ln w="15875">
            <a:solidFill>
              <a:srgbClr val="E8F1FF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③ fill T1 from bay pairs A + B · 153 b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7063740" y="2350008"/>
            <a:ext cx="3434388" cy="329184"/>
          </a:xfrm>
          <a:prstGeom prst="rect">
            <a:avLst/>
          </a:prstGeom>
          <a:solidFill>
            <a:srgbClr val="9EC3F0">
              <a:alpha val="15000"/>
            </a:srgbClr>
          </a:solidFill>
          <a:ln w="12700">
            <a:solidFill>
              <a:srgbClr val="9EC3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feed DH-01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411480" y="27889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 · Tue/Thu/Sat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394269" y="2788920"/>
            <a:ext cx="3434388" cy="329184"/>
          </a:xfrm>
          <a:prstGeom prst="rect">
            <a:avLst/>
          </a:prstGeom>
          <a:solidFill>
            <a:srgbClr val="9EC3F0">
              <a:alpha val="15000"/>
            </a:srgbClr>
          </a:solidFill>
          <a:ln w="12700">
            <a:solidFill>
              <a:srgbClr val="9EC3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feed SH-01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411480" y="322783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SH-01 MSW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6394269" y="3227832"/>
            <a:ext cx="3434388" cy="329184"/>
          </a:xfrm>
          <a:prstGeom prst="rect">
            <a:avLst/>
          </a:prstGeom>
          <a:solidFill>
            <a:srgbClr val="FFD166">
              <a:alpha val="22000"/>
            </a:srgbClr>
          </a:solidFill>
          <a:ln w="15875">
            <a:solidFill>
              <a:srgbClr val="FFD166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shred 240 t → next empty bay pair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411480" y="3666744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DH-01 → SP-01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063740" y="3666744"/>
            <a:ext cx="3434388" cy="329184"/>
          </a:xfrm>
          <a:prstGeom prst="rect">
            <a:avLst/>
          </a:prstGeom>
          <a:solidFill>
            <a:srgbClr val="FFD166">
              <a:alpha val="22000"/>
            </a:srgbClr>
          </a:solidFill>
          <a:ln w="15875">
            <a:solidFill>
              <a:srgbClr val="FFD166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secondary processing 33 t/h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411480" y="4105656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SH-02 bulky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3046911" y="4105656"/>
            <a:ext cx="3213463" cy="329184"/>
          </a:xfrm>
          <a:prstGeom prst="rect">
            <a:avLst/>
          </a:prstGeom>
          <a:solidFill>
            <a:srgbClr val="9EC3F0">
              <a:alpha val="15000"/>
            </a:srgbClr>
          </a:solidFill>
          <a:ln w="12700">
            <a:solidFill>
              <a:srgbClr val="9EC3F0"/>
            </a:solidFill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bulky 4.8 h/day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411480" y="4544568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Detection bays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2377440" y="4544568"/>
            <a:ext cx="9372600" cy="329184"/>
          </a:xfrm>
          <a:prstGeom prst="rect">
            <a:avLst/>
          </a:prstGeom>
          <a:solidFill>
            <a:srgbClr val="0D3B73"/>
          </a:solidFill>
          <a:ln w="12700">
            <a:solidFill>
              <a:srgbClr val="9EC3F0"/>
            </a:solidFill>
            <a:prstDash val="dash"/>
          </a:ln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IR cameras + auto deluge, 24/7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480" y="5248656"/>
            <a:ext cx="3611880" cy="960120"/>
          </a:xfrm>
          <a:prstGeom prst="rect">
            <a:avLst/>
          </a:prstGeom>
          <a:solidFill>
            <a:srgbClr val="0A2F5D"/>
          </a:solidFill>
          <a:ln w="12700">
            <a:solidFill>
              <a:srgbClr val="2A5790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94360" y="53400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13.9 h</a:t>
            </a:r>
            <a:endParaRPr lang="en-US" sz="2000" dirty="0"/>
          </a:p>
        </p:txBody>
      </p:sp>
      <p:sp>
        <p:nvSpPr>
          <p:cNvPr id="49" name="Text 47"/>
          <p:cNvSpPr txBox="1"/>
          <p:nvPr/>
        </p:nvSpPr>
        <p:spPr>
          <a:xfrm>
            <a:off x="2057400" y="53583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shred 17:08 → next fill 07:00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594360" y="579729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 12 h hold on every load (max 66 h over the weekend)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270248" y="5248656"/>
            <a:ext cx="3611880" cy="960120"/>
          </a:xfrm>
          <a:prstGeom prst="rect">
            <a:avLst/>
          </a:prstGeom>
          <a:solidFill>
            <a:srgbClr val="0A2F5D"/>
          </a:solidFill>
          <a:ln w="12700">
            <a:solidFill>
              <a:srgbClr val="2A5790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4453128" y="53400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①→②→③</a:t>
            </a:r>
            <a:endParaRPr lang="en-US" sz="1600" dirty="0"/>
          </a:p>
        </p:txBody>
      </p:sp>
      <p:sp>
        <p:nvSpPr>
          <p:cNvPr id="53" name="Text 51"/>
          <p:cNvSpPr txBox="1"/>
          <p:nvPr/>
        </p:nvSpPr>
        <p:spPr>
          <a:xfrm>
            <a:off x="5916168" y="53583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empty, turn, refill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4453128" y="579729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stage 2 tunnel is emptied before each turn; stage 1 refills next day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129016" y="5248656"/>
            <a:ext cx="3611880" cy="960120"/>
          </a:xfrm>
          <a:prstGeom prst="rect">
            <a:avLst/>
          </a:prstGeom>
          <a:solidFill>
            <a:srgbClr val="0A2F5D"/>
          </a:solidFill>
          <a:ln w="12700">
            <a:solidFill>
              <a:srgbClr val="2A5790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311896" y="5340096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~3,340 h</a:t>
            </a:r>
            <a:endParaRPr lang="en-US" sz="2000" dirty="0"/>
          </a:p>
        </p:txBody>
      </p:sp>
      <p:sp>
        <p:nvSpPr>
          <p:cNvPr id="57" name="Text 55"/>
          <p:cNvSpPr txBox="1"/>
          <p:nvPr/>
        </p:nvSpPr>
        <p:spPr>
          <a:xfrm>
            <a:off x="9774936" y="535838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loader-hours a year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8311896" y="579729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loaders at ~1,670 h each (4% over 1,600 h) or a third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41148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26029-PFD-003 rev B · Coleraine / Riverridge · WTT 26029 rev 1 basis · sheet 2 of 3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3B7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100" kern="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TABLE &amp; OPEN ITEMS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31520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EC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averages, WTT 26029 rev 1 mass balance. MSW check: output 52,485 + off-gas 15,090 + 7,425 = 75,000 t/yr.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9418320" y="310896"/>
            <a:ext cx="2377440" cy="292608"/>
          </a:xfrm>
          <a:prstGeom prst="rect">
            <a:avLst/>
          </a:prstGeom>
          <a:noFill/>
          <a:ln w="12700">
            <a:solidFill>
              <a:srgbClr val="FFD16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SELECTED LAYOUT · INTERIM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88720"/>
          <a:ext cx="72237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657600"/>
                <a:gridCol w="1097280"/>
                <a:gridCol w="73152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9EC3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9EC3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9EC3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t/yr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9EC3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DS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9EC3F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m³/yr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MSW delivered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75,000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63.0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214,286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MSW to SH-01 (no picking; stream 2 deleted)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75,000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63.0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Shredded MSW to detection bays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75,000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63.0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214,286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Bays → stage 1 (3 × 481 t/wk)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75,000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63.0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214,286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1 off-gas (water + degradation)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15,090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Turn stage 1 → stage 2 (3 × 384 t/wk)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59,910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75.4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171,171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2 off-gas (incl. 1,847 t heat evap.)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7,425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Additional heat (kWh/yr)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1,282,844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 2 output → OS-01 storage bays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52,485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84.6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149,957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OS-01 → DH-01 dosing hopper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52,485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84.6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149,957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DH-01 → SP-01 at 33 t/h · 1,600 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52,485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84.6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149,957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SP-01 products / rejects (split TBC)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52,485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Bulky delivered → SH-02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60,000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Shredded bulky off-site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60,000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E8F1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–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18288" marB="18288" anchor="ctr">
                    <a:lnL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A579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3B73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8001000" y="1188720"/>
            <a:ext cx="3776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CHOICES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1508760"/>
            <a:ext cx="3776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SH-01 MSW only, 46.9 t/h; SH-02 bulky only, ≥ 38 t/h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Blazequel on outfeed belt + 4 IR-watched bays, 12 h hold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identical 40 m tunnels; turns always into an emptied one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Heat plant 171 kW + margin, not 257 kW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SP-01 33 t/h in 1,600 h (0.6% margin)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3703320"/>
            <a:ext cx="3776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D1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TO CONFIRM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4023360"/>
            <a:ext cx="3776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Portadown Blazequel + post-belt fire log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SH-02 bulky rate (≥ 38 t/h?)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Loader cycle time (2 min assumed)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WTT: 6 days in stage 1 vs 7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8F1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NIEA / NIFRS pile limit and fire water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1148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EC3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26029-PFD-003 rev B · Coleraine / Riverridge · WTT 26029 rev 1 basis · sheet 3 of 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Coleraine 6 × 40 m PFD</dc:title>
  <dc:subject>PptxGenJS Presentation</dc:subject>
  <dc:creator>Prepared by Claude for review</dc:creator>
  <cp:lastModifiedBy>Prepared by Claude for review</cp:lastModifiedBy>
  <cp:revision>1</cp:revision>
  <dcterms:created xsi:type="dcterms:W3CDTF">2026-10-02T19:15:21Z</dcterms:created>
  <dcterms:modified xsi:type="dcterms:W3CDTF">2026-10-02T19:15:21Z</dcterms:modified>
</cp:coreProperties>
</file>