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8-tunnel option (WTT 4-tunnel sheet): 4 × 31 m stage 1 and 4 × 25 m stage 2, same 8 m width and 6 m height. Same mass balance as the 6-tunnel layout; batches are 361 t into stage 1 and 288 t into stage 2. MSW goes from reception straight to SH-01 (no picking station), with Blazequel fire detection on the outfeed belt. Shredded MSW waits at least 12 h in four IR-watched detection bays (two pairs, one per shredding day) before filling a stage 1 tunnel. Stage 1 turns into an emptied stage 2 tunnel on Mon/Tue/Thu/Fri and refills Tue/Wed/Fri/Sat. Stage 2 empties into the OS-01 storage bays, then the DH-01 dosing hopper meters SP-01 at 33 t/h. Bulky waste has its own shredder, SH-02, and does not go to the tunnels.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Buckets per event: fill 115, turn 92, empty 81 (9 m³ bucket, assumed 2-minute cycle). L2 feeds SH-01 in short spells, about 2.6 h of work a day. L1 feeds the dosing hopper in the afternoons; L2 covers the hopper on Tue/Fri until L1 finishes turning at 13:54. SH-02 is assumed to have its own grab or feeder. The 12 h hold works because shredding ends at 17:08 and the next fill starts at 07:00.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mass balance as the 6-tunnel layout; fire water falls to 1,224 m³ because the largest pile is a 1,030 m³ tunnel. m³ at 350 kg/m³ throughout; the output density is not in the WTT sheet, so 0.35 t/m³ is assumed and may be low for dry compost. Build 2 doubles every MSW stream and uses T1–T6 stage 1 and T7–T12 stage 2; it needs a second 33 t/h line and about 4 loaders.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SHEET · 8 TUNNELS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t/yr MSW · 4 × 31 m stage 1 (T1–T4) + 4 × 25 m stage 2 (T5–T8) · 8 m wide, 6 m high · Mon–Sat · 350 kg/m³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310896"/>
            <a:ext cx="2377440" cy="292608"/>
          </a:xfrm>
          <a:prstGeom prst="rect">
            <a:avLst/>
          </a:prstGeom>
          <a:noFill/>
          <a:ln w="12700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INTERIM · NOT FOR CONSTRUCTION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8934871" cy="5303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20671" y="1097280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620671" y="1554480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REDUCTION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9620671" y="1773936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→ 52,485 t/yr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620671" y="2176272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361 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620671" y="2633472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STAGE 1 FILL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620671" y="2852928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4.37 m of 4.5 m limit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620671" y="3255264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343 m³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620671" y="3712464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BAYS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620671" y="3931920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 hold · peak 481 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620671" y="4334256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9 m³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620671" y="4791456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620671" y="5010912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~3,350 h/yr · busiest day 9.6 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620671" y="5413248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1,224 m³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620671" y="5870448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WATER, LARGEST PILE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620671" y="6089904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less than 6 tunnels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26029-PFD-002 rev A · Coleraine / Riverridge · WTT 26029 rev 1 basis · sheet 1 of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RHYTHM · 8 TUNNELS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turns (Mon/Tue/Thu/Fri) and 4 refills (Tue/Wed/Fri/Sat). Loading in the morning, shredding in the afternoon.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310896"/>
            <a:ext cx="2377440" cy="292608"/>
          </a:xfrm>
          <a:prstGeom prst="rect">
            <a:avLst/>
          </a:prstGeom>
          <a:noFill/>
          <a:ln w="12700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INTERIM · NOT FOR CONSTRUCTION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377440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46911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16383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6343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5854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55326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5286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24797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4269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74229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63740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3211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13171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02683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2154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52114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741626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11097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91057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080569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50040" y="1371600"/>
            <a:ext cx="0" cy="3584448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1453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Mon/Thu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54484" y="1453896"/>
            <a:ext cx="2055277" cy="310896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② turn T1→T5 · 92 b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063740" y="1453896"/>
            <a:ext cx="3434388" cy="310896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DH-01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18470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Tue/Fri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046911" y="1847088"/>
            <a:ext cx="2564076" cy="310896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③ fill T1 · 115 b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610987" y="1847088"/>
            <a:ext cx="2055277" cy="310896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② turn T2→T6 · 92 b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666264" y="1847088"/>
            <a:ext cx="2831864" cy="310896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DH-01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22402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Wed/Sat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046911" y="2240280"/>
            <a:ext cx="2564076" cy="310896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③ fill T2 · 115 b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063740" y="2240280"/>
            <a:ext cx="3434388" cy="310896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DH-01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11480" y="26334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Mon/Tue/Thu/Fri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046911" y="2633472"/>
            <a:ext cx="1807573" cy="310896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① empty → OS-01 · 81 b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394269" y="2633472"/>
            <a:ext cx="3434388" cy="310896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SH-01 (+ DH-01 to 13:54 Tue/Fri)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11480" y="30266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Wed/Sat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394269" y="3026664"/>
            <a:ext cx="3434388" cy="310896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SH-01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11480" y="34198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SH-01 MSW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394269" y="3419856"/>
            <a:ext cx="3434388" cy="310896"/>
          </a:xfrm>
          <a:prstGeom prst="rect">
            <a:avLst/>
          </a:prstGeom>
          <a:solidFill>
            <a:srgbClr val="FFD166">
              <a:alpha val="22000"/>
            </a:srgbClr>
          </a:solidFill>
          <a:ln w="15875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shred 240 t → next empty bay pair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11480" y="3813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DH-01 → SP-01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7063740" y="3813048"/>
            <a:ext cx="3434388" cy="310896"/>
          </a:xfrm>
          <a:prstGeom prst="rect">
            <a:avLst/>
          </a:prstGeom>
          <a:solidFill>
            <a:srgbClr val="FFD166">
              <a:alpha val="22000"/>
            </a:srgbClr>
          </a:solidFill>
          <a:ln w="15875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secondary processing 33 t/h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11480" y="42062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SH-02 bulky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046911" y="4206240"/>
            <a:ext cx="3213463" cy="310896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bulky 4.8 h/day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11480" y="45994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bays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2377440" y="4599432"/>
            <a:ext cx="9372600" cy="310896"/>
          </a:xfrm>
          <a:prstGeom prst="rect">
            <a:avLst/>
          </a:prstGeom>
          <a:solidFill>
            <a:srgbClr val="0D3B73"/>
          </a:solidFill>
          <a:ln w="12700">
            <a:solidFill>
              <a:srgbClr val="9EC3F0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IR cameras + auto deluge, 24/7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1480" y="5276088"/>
            <a:ext cx="3611880" cy="960120"/>
          </a:xfrm>
          <a:prstGeom prst="rect">
            <a:avLst/>
          </a:prstGeom>
          <a:solidFill>
            <a:srgbClr val="0A2F5D"/>
          </a:solidFill>
          <a:ln w="12700">
            <a:solidFill>
              <a:srgbClr val="2A579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4360" y="53675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 h</a:t>
            </a:r>
            <a:endParaRPr lang="en-US" sz="2000" dirty="0"/>
          </a:p>
        </p:txBody>
      </p:sp>
      <p:sp>
        <p:nvSpPr>
          <p:cNvPr id="53" name="Text 51"/>
          <p:cNvSpPr txBox="1"/>
          <p:nvPr/>
        </p:nvSpPr>
        <p:spPr>
          <a:xfrm>
            <a:off x="2057400" y="53858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shred 17:08 → next fill 07:00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5824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12 h hold on every load (max 66 h over the weekend)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270248" y="5276088"/>
            <a:ext cx="3611880" cy="960120"/>
          </a:xfrm>
          <a:prstGeom prst="rect">
            <a:avLst/>
          </a:prstGeom>
          <a:solidFill>
            <a:srgbClr val="0A2F5D"/>
          </a:solidFill>
          <a:ln w="12700">
            <a:solidFill>
              <a:srgbClr val="2A579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53128" y="53675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 h</a:t>
            </a:r>
            <a:endParaRPr lang="en-US" sz="2000" dirty="0"/>
          </a:p>
        </p:txBody>
      </p:sp>
      <p:sp>
        <p:nvSpPr>
          <p:cNvPr id="57" name="Text 55"/>
          <p:cNvSpPr txBox="1"/>
          <p:nvPr/>
        </p:nvSpPr>
        <p:spPr>
          <a:xfrm>
            <a:off x="5916168" y="53858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busiest day (Tue/Fri)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4453128" y="5824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+ turn + fill, split L2 2.7 h and L1 6.9 h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29016" y="5276088"/>
            <a:ext cx="3611880" cy="960120"/>
          </a:xfrm>
          <a:prstGeom prst="rect">
            <a:avLst/>
          </a:prstGeom>
          <a:solidFill>
            <a:srgbClr val="0A2F5D"/>
          </a:solidFill>
          <a:ln w="12700">
            <a:solidFill>
              <a:srgbClr val="2A579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311896" y="53675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~3,350 h</a:t>
            </a:r>
            <a:endParaRPr lang="en-US" sz="2000" dirty="0"/>
          </a:p>
        </p:txBody>
      </p:sp>
      <p:sp>
        <p:nvSpPr>
          <p:cNvPr id="61" name="Text 59"/>
          <p:cNvSpPr txBox="1"/>
          <p:nvPr/>
        </p:nvSpPr>
        <p:spPr>
          <a:xfrm>
            <a:off x="9774936" y="53858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loader-hours a year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8311896" y="5824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loaders at ~1,676 h each (5% over 1,600 h) or a third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26029-PFD-002 rev A · Coleraine / Riverridge · WTT 26029 rev 1 basis · sheet 2 of 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TABLE &amp; OPEN ITEMS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averages, WTT 26029 rev 1 mass balance. MSW check: output 52,485 + off-gas 15,090 + 7,425 = 75,000 t/yr.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310896"/>
            <a:ext cx="2377440" cy="292608"/>
          </a:xfrm>
          <a:prstGeom prst="rect">
            <a:avLst/>
          </a:prstGeom>
          <a:noFill/>
          <a:ln w="12700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INTERIM · NOT FOR CONSTRUCTION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7223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1097280"/>
                <a:gridCol w="73152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t/yr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m³/yr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MSW delivered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214,286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MSW to SH-01 (no picking; stream 2 deleted)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Shredded MSW to detection bays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214,286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Bays → stage 1 (4 × 361 t/wk)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214,286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 off-gas (water + degradation)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15,090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 stage 1 → stage 2 (4 × 288 t/wk)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59,910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171,171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 off-gas (incl. 1,847 t heat evap.)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7,425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heat (kWh/yr)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1,282,844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 output → OS-01 (4 × 252 t/wk)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52,485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149,957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OS-01 → DH-01 dosing hopper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52,485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149,957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DH-01 → SP-01 at 33 t/h · 1,600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52,485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149,957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SP-01 products / rejects (split TBC)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52,485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Bulky delivered → SH-02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Shredded bulky off-site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01000" y="118872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150876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SH-01 MSW only, 46.9 t/h; SH-02 bulky only, ≥ 38 t/h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Blazequel on outfeed belt + 4 IR-watched bays, 12 h 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31 m + 4 × 25 m; turns always into an emptied tunnel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64 kW/tunnel; plant 193 kW + margin, not 257 kW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SP-01 33 t/h in 1,600 h (0.6% margin)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70332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TO CONFIRM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402336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Portadown Blazequel + post-belt fire 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SH-02 bulky rate (≥ 38 t/h?)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 cycle time (2 min assumed)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WTT: 6 days in stage 1 vs 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NIEA / NIFRS pile limit and fire water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26029-PFD-002 rev A · Coleraine / Riverridge · WTT 26029 rev 1 basis · sheet 3 of 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Coleraine 8-Tunnel PFD</dc:title>
  <dc:subject>PptxGenJS Presentation</dc:subject>
  <dc:creator>Prepared by Claude for review</dc:creator>
  <cp:lastModifiedBy>Prepared by Claude for review</cp:lastModifiedBy>
  <cp:revision>1</cp:revision>
  <dcterms:created xsi:type="dcterms:W3CDTF">2026-09-28T07:20:31Z</dcterms:created>
  <dcterms:modified xsi:type="dcterms:W3CDTF">2026-09-28T07:20:31Z</dcterms:modified>
</cp:coreProperties>
</file>